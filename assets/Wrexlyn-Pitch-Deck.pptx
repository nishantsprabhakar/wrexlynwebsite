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6" r:id="rId37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  <Relationship Id="rId37" Type="http://schemas.openxmlformats.org/officeDocument/2006/relationships/slide" Target="slides/slide31.xml"/>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F4F7FB"/>
                </a:solidFill>
                <a:latin typeface="Calibri"/>
              </a:defRPr>
            </a:pPr>
            <a:r>
              <a:rPr sz="1800" b="0" i="0" u="none" strike="noStrike">
                <a:solidFill>
                  <a:srgbClr val="F4F7FB"/>
                </a:solidFill>
                <a:latin typeface="Calibri"/>
              </a:rPr>
              <a:t>Approximate size threshold, by document type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Trigger threshold</c:v>
                </c:pt>
              </c:strCache>
            </c:strRef>
          </c:tx>
          <c:spPr>
            <a:solidFill>
              <a:srgbClr val="2FE6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8FA0B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E6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E6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B6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Slides</c:v>
                  </c:pt>
                  <c:pt idx="1">
                    <c:v>Content blocks</c:v>
                  </c:pt>
                  <c:pt idx="2">
                    <c:v>Spreadsheet rows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</c:v>
                </c:pt>
                <c:pt idx="1">
                  <c:v>40</c:v>
                </c:pt>
                <c:pt idx="2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8FA0B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0B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32E4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0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111826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3317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828800" y="2377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828800" y="283464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Local-First AI Orchestration Workspace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828800" y="3703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Features, differentiation, expansion potential, and category comparison — a complete product briefing.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828800" y="4709160"/>
            <a:ext cx="2313432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470916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9" name="Text 7"/>
          <p:cNvSpPr/>
          <p:nvPr/>
        </p:nvSpPr>
        <p:spPr>
          <a:xfrm>
            <a:off x="2011680" y="4800600"/>
            <a:ext cx="202082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011680" y="5166360"/>
            <a:ext cx="202082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tools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88536" y="4709160"/>
            <a:ext cx="2313432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88536" y="470916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4800600"/>
            <a:ext cx="202082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471416" y="5166360"/>
            <a:ext cx="202082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provider paths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48272" y="4709160"/>
            <a:ext cx="2313432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48272" y="470916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17" name="Text 15"/>
          <p:cNvSpPr/>
          <p:nvPr/>
        </p:nvSpPr>
        <p:spPr>
          <a:xfrm>
            <a:off x="6931152" y="4800600"/>
            <a:ext cx="202082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931152" y="5166360"/>
            <a:ext cx="202082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layers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208008" y="4709160"/>
            <a:ext cx="2313432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08008" y="470916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21" name="Text 19"/>
          <p:cNvSpPr/>
          <p:nvPr/>
        </p:nvSpPr>
        <p:spPr>
          <a:xfrm>
            <a:off x="9390888" y="4800600"/>
            <a:ext cx="202082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390888" y="5166360"/>
            <a:ext cx="202082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check-states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Nishant Prabhakar  ·  Proprietary — source-available, not open source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chat window with tool access is not a controlled workspace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 model file and shell access answers a different question than making its output trustworthy. Most agentic tools optimize generation speed and leave verification, recovery, and memory as an afterthought — or skip them entirely.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220370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❓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220370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Confident, not correct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715768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narrates its work fluently regardless of whether the change actually works — tone is not evidence.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61104" y="2057400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5696" y="220370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4425696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↻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19472" y="220370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without recovery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43984" y="2715768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failed attempt is usually just retried verbatim, with no independent diagnosis of why it failed.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65008" y="2057400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220370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📄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723376" y="220370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are pretend-checked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47888" y="2715768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generated Word/PPT/Excel file is rarely inspected structurally — “didn’t throw” is treated as “correct.”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219956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4366260"/>
            <a:ext cx="384048" cy="384048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" y="43662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🔒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15568" y="436626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lock-in or cloud lock-in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4878324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IDE-embedded tools tie you to one editor and model; hosted agents move your code to infrastructure you can’t inspect.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261104" y="4219956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25696" y="436626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1" name="Text 29"/>
          <p:cNvSpPr/>
          <p:nvPr/>
        </p:nvSpPr>
        <p:spPr>
          <a:xfrm>
            <a:off x="4425696" y="43662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919472" y="436626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 across sessions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443984" y="4878324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Preferences, working commands, and lessons learned are re-derived from scratch on every new conversation.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65008" y="4219956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0" y="4366260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0" y="43662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🕵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723376" y="436626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 trail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247888" y="4878324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breaks, there is often no record of what changed, what was checked, or how to undo it.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are replaceable infrastructure. The workspace is the product.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 is a single local Node.js process — not a browser extension, not a hosted SaaS — that gives any LLM provider a governed loop for context, tools, permissions, verification, and memory. Everything it touches lives on your machine.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3627120" cy="3108960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880360"/>
            <a:ext cx="54864" cy="3108960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875227"/>
            <a:ext cx="33345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4240987"/>
            <a:ext cx="3334512" cy="17483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sessions, keys and generated files never leave the machine unless the chosen model provider needs the message text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67200" y="2880360"/>
            <a:ext cx="3627120" cy="3108960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67200" y="2880360"/>
            <a:ext cx="54864" cy="3108960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15" name="Text 13"/>
          <p:cNvSpPr/>
          <p:nvPr/>
        </p:nvSpPr>
        <p:spPr>
          <a:xfrm>
            <a:off x="4450080" y="3875227"/>
            <a:ext cx="33345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CONTROL 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450080" y="4240987"/>
            <a:ext cx="3334512" cy="17483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risk-scored, snapshotted, checked and scored — so honesty doesn’t depend entirely on model care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77200" y="2880360"/>
            <a:ext cx="3627120" cy="3108960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77200" y="2880360"/>
            <a:ext cx="54864" cy="3108960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19" name="Text 17"/>
          <p:cNvSpPr/>
          <p:nvPr/>
        </p:nvSpPr>
        <p:spPr>
          <a:xfrm>
            <a:off x="8260080" y="3875227"/>
            <a:ext cx="33345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MODEL-AGNOSTIC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60080" y="4240987"/>
            <a:ext cx="3334512" cy="17483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integrated cloud providers, any custom endpoint, or a fully local model server — same harness either way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562356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562356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product thesis.</a:t>
            </a:r>
            <a:pPr indent="0" marL="0">
              <a:buNone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Durable value comes from the workspace that gives models context, tools, reusable skills, permission boundaries, verification and project knowledge that compounds — not from any single model.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OPERATING CONTRACT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commitments the model provider never changes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model may change by task, price, privacy requirement or customer policy. What Wrexlyn commits to around it does not.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220370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01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220370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before acting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715768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structure, ranked lexical search, extracted symbols and Git history narrow the working set before any edit.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61104" y="2057400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5696" y="220370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4425696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02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19472" y="220370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every mutation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43984" y="2715768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tools, path validation, risk classification and pre-change snapshots gate every effect on the machine.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65008" y="2057400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220370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03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723376" y="220370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completion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47888" y="2715768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builds/tests/lint drive a six-state outcome; structural gates check non-code deliverables the same way.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219956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4366260"/>
            <a:ext cx="384048" cy="384048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" y="43662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04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15568" y="436626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deliberately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4878324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critique, bounded repair, recurrence detection and NCP replace infinite, uninformed retries.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261104" y="4219956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25696" y="436626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1" name="Text 29"/>
          <p:cNvSpPr/>
          <p:nvPr/>
        </p:nvSpPr>
        <p:spPr>
          <a:xfrm>
            <a:off x="4425696" y="43662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05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919472" y="436626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customer choice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443984" y="4878324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providers, any compatible URL, and local runtimes like Ollama share one execution harness.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65008" y="4219956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0" y="4366260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0" y="43662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06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723376" y="436626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 audit trail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247888" y="4878324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activity, evidence, outcome state, confidence, transactions and rollback data explain what happened.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process, five layers, zero required external services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UI talks to a single Node.js process over one WebSocket. Every tool call, permission prompt and streamed token flows through the same typed protocol — no bundler, no build step for the frontend, no mandatory backend service.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11247120" cy="3429000"/>
        </p:xfrm>
        <a:graphic>
          <a:graphicData uri="http://schemas.openxmlformats.org/drawingml/2006/table">
            <a:tbl>
              <a:tblPr/>
              <a:tblGrid>
                <a:gridCol w="2377440"/>
                <a:gridCol w="8869680"/>
              </a:tblGrid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LAYER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WHAT IT IS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Agent loop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Drives the model, dispatches tool calls, runs the reliability pipeline, persists sessions per project.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Tools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23 typed tools — file I/O, search, shell, Word/PPT/Excel/PDF generation &amp; reading, web fetch — each risk-classified.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Provider layer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One shared OpenAI-compatible HTTP/SSE client backs every integrated provider and the Custom / Local Model option.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Web server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Static file serving with no build step (UI edits are live on refresh), the WebSocket protocol, and local-only REST endpoints.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Persistence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Per-project sessions, transaction/audit log, learned preferences and saved skills under .coding-agent/; machine-wide settings under the user’s home directory.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ORCHESTRATION STACK — PART 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implemented capability layers, understand → execute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🔐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5568" y="20208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01–02 Secure execution foundation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532888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runtime, authenticated web access, strict path validation, protected secret storage, SSRF-resistant fetching, scrubbed MCP environments.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874520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5696" y="202082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5" name="Text 13"/>
          <p:cNvSpPr/>
          <p:nvPr/>
        </p:nvSpPr>
        <p:spPr>
          <a:xfrm>
            <a:off x="44256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✅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919472" y="20208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Six-state verification engine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43984" y="2532888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 verified-with-warnings / unverified / failed / blocked / not-applicable — required and advisory checks stay distinct.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65008" y="1874520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0" y="202082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🕒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723376" y="20208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Checkpoints and rollback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47888" y="2532888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Binary-safe per-file snapshots and Git-plumbing workspace checkpoints. Staleness checks stop a rollback overwriting newer work.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128516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4274820"/>
            <a:ext cx="384048" cy="384048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" y="42748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🔍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15568" y="427482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Project intelligence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4786884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 ranking, symbol extraction, repo structure and Git-history signals find the code that matters before editing.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61104" y="4128516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25696" y="42748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0" name="Text 28"/>
          <p:cNvSpPr/>
          <p:nvPr/>
        </p:nvSpPr>
        <p:spPr>
          <a:xfrm>
            <a:off x="4425696" y="42748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📋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919472" y="427482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Evidence and consistency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443984" y="4786884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cite captured evidence; a consistency layer flags contradictions across generated artifacts.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65008" y="4128516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0" y="4274820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0" y="42748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📄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723376" y="427482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Professional artifact engine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247888" y="4786884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structured document model compiles to Markdown/HTML/PDF and drives native Word/PPT/Excel generation.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ORCHESTRATION STACK — PART 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...execute → verify → adapt for next time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🧩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5568" y="20208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Versioned skills platform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532888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capabilities packaged with manifests, instructions, scripts, tests and evals — governed product IP, not loose prompts.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874520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5696" y="202082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5" name="Text 13"/>
          <p:cNvSpPr/>
          <p:nvPr/>
        </p:nvSpPr>
        <p:spPr>
          <a:xfrm>
            <a:off x="44256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🔌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919472" y="20208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Enterprise-grade MCP connectors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43984" y="2532888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and remote Streamable HTTP servers, OAuth 2.1 flows, per-server policy, anti-injection framing for external content.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65008" y="1874520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0" y="202082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🔀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723376" y="20208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Best-of-N isolated agents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47888" y="2532888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attempt the same hard task in real Git worktrees; candidates are independently verified and ranked.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128516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4274820"/>
            <a:ext cx="384048" cy="384048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" y="42748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🖥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15568" y="427482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Product execution console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4786884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project selection, plans, live tool activity, permissions, evidence and parallel-run results in one workspace.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61104" y="4128516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25696" y="42748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0" name="Text 28"/>
          <p:cNvSpPr/>
          <p:nvPr/>
        </p:nvSpPr>
        <p:spPr>
          <a:xfrm>
            <a:off x="4425696" y="42748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🏢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919472" y="427482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Local enterprise governance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443984" y="4786884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applied at the customer-controlled runtime, not a mandatory hosted multi-tenant plane — custody stays with the customer.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65008" y="4128516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0" y="4274820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0" y="42748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🧪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723376" y="427482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Reproducible product evaluation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247888" y="4786884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success, verification integrity, regressions, recovery uplift, safety and cost — pinned to build, model and environment.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RELIABILITY RUNTIME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differentiator: a control loop wrapped around the model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mutating action — writing a file, running a command — passes through the same six-step pipeline. The whole turn is checked, scored, and can be reverted.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1333500" y="3044952"/>
            <a:ext cx="9494520" cy="0"/>
          </a:xfrm>
          <a:prstGeom prst="line">
            <a:avLst/>
          </a:prstGeom>
          <a:noFill/>
          <a:ln w="19050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468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77468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3429000"/>
            <a:ext cx="1752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3758184"/>
            <a:ext cx="175260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Low/med/high scored before running. Destructive patterns can never be pre-approved.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976372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76372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356104" y="3429000"/>
            <a:ext cx="1752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356104" y="3758184"/>
            <a:ext cx="175260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touched file captured beforehand — one button restores exact prior content.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75276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75276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255008" y="3429000"/>
            <a:ext cx="1752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255008" y="3758184"/>
            <a:ext cx="175260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configured build/test/lint checks. A failure is evidence, not a vibe.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74180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8B7C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74180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7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153912" y="3429000"/>
            <a:ext cx="1752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critic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153912" y="3758184"/>
            <a:ext cx="175260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model call, no tools, no stake in the outcome, reviews the result.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73084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73084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052816" y="3429000"/>
            <a:ext cx="1752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repair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052816" y="3758184"/>
            <a:ext cx="175260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3 automatic rounds, with stuck-loop detection on identical output.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0571988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71988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951720" y="3429000"/>
            <a:ext cx="1752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951720" y="3758184"/>
            <a:ext cx="175260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evidence-based 0–100 score and outcome end every turn.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5029200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111826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5029200"/>
            <a:ext cx="10789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scope.</a:t>
            </a:r>
            <a:pPr indent="0" marL="0">
              <a:buNone/>
            </a:pPr>
            <a:r>
              <a:rPr lang="en-US" sz="12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This reduces accidental damage from a model doing something it shouldn’t. It is not a sandbox — a genuinely compromised model with shell access is a different, larger problem a permission prompt alone doesn’t solve.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ENGINE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honest outcomes, not one confident tone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checks (a real build/test) and advisory checks (an independent critic’s opinion) are kept distinct, so a confident model response can never silently overwrite objective test evidence.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3429000"/>
        </p:xfrm>
        <a:graphic>
          <a:graphicData uri="http://schemas.openxmlformats.org/drawingml/2006/table">
            <a:tbl>
              <a:tblPr/>
              <a:tblGrid>
                <a:gridCol w="3840480"/>
                <a:gridCol w="7406640"/>
              </a:tblGrid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STATE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WHAT IT MEANS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Verified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Every required check ran and passed — objective evidence, not a self-report.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Verified, with warnings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Required checks passed; an advisory signal (e.g. the critic) flagged something worth a look.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Unverified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Changes were made but nothing applicable ran to check them.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Failed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A required check ran and did not pass.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Blocked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The turn stopped before completion — a permission denial or a hard error.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Not applicable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No mutating action occurred; there was nothing to verify.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AND ROLLBACK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reversible by construction, not by hope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40080" y="2148840"/>
            <a:ext cx="365760" cy="365760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" y="2121408"/>
            <a:ext cx="10186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Binary-safe per-file snapshots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52144" y="2395728"/>
            <a:ext cx="1018641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before any write, edit, or delete — non-UTF-8 content restores byte-exact.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200400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🧱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" y="3172968"/>
            <a:ext cx="10186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Git-plumbing workspace checkpoints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52144" y="3447288"/>
            <a:ext cx="1018641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Creates, edits, deletes, renames, and file-mode changes are all tracked, not just text diffs.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251960"/>
            <a:ext cx="365760" cy="36576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51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⏳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" y="4224528"/>
            <a:ext cx="10186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Staleness checks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52144" y="4498848"/>
            <a:ext cx="1018641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rollback refuses to silently overwrite a file the user modified after the transaction finished.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303520"/>
            <a:ext cx="365760" cy="365760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303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↩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52144" y="5276088"/>
            <a:ext cx="10186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revert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152144" y="5550408"/>
            <a:ext cx="1018641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failed or unwanted turn restores every changed file to its exact prior state — no manual undo.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6126480"/>
            <a:ext cx="0" cy="0"/>
          </a:xfrm>
          <a:prstGeom prst="roundRect">
            <a:avLst/>
          </a:prstGeom>
          <a:noFill/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INTELLIGENCE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the actual repository, not a guessed architecture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is a first-class subsystem, not a side effect of the model’s training data — the agent inspects relevant code instead of inferring structure from filenames or a partial prompt.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5541264" cy="1929384"/>
          </a:xfrm>
          <a:prstGeom prst="roundRect">
            <a:avLst>
              <a:gd name="adj" fmla="val 2844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229514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2295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🔤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2295144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lexical search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807208"/>
            <a:ext cx="5175504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Term-frequency relevance across the project, not embedding-based semantic search — stated plainly, not oversold.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2148840"/>
            <a:ext cx="5541264" cy="1929384"/>
          </a:xfrm>
          <a:prstGeom prst="roundRect">
            <a:avLst>
              <a:gd name="adj" fmla="val 2844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27648" y="229514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6327648" y="2295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🧬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21424" y="2295144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extraction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45936" y="2807208"/>
            <a:ext cx="5175504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Functions, types and classes are indexed for precise lookups, answered directly rather than by scanning raw text.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242816"/>
            <a:ext cx="5541264" cy="1929384"/>
          </a:xfrm>
          <a:prstGeom prst="roundRect">
            <a:avLst>
              <a:gd name="adj" fmla="val 2844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4389120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📁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15568" y="4389120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structure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4901184"/>
            <a:ext cx="5175504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top-level file listing, package.json, and README load automatically on startup — no list_dir needed just to orient.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63056" y="4242816"/>
            <a:ext cx="5541264" cy="1929384"/>
          </a:xfrm>
          <a:prstGeom prst="roundRect">
            <a:avLst>
              <a:gd name="adj" fmla="val 2844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4389120"/>
            <a:ext cx="384048" cy="384048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6" name="Text 24"/>
          <p:cNvSpPr/>
          <p:nvPr/>
        </p:nvSpPr>
        <p:spPr>
          <a:xfrm>
            <a:off x="6327648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🗂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821424" y="4389120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Git-history signals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45936" y="4901184"/>
            <a:ext cx="5175504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commits and change patterns inform what’s actually active in a codebase, not just what exists.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AND CONSISTENCY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that cite sources, and contradictions that get flagged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and facts captured during a session can be cross-checked against later claims — useful for diligence packs, technical reports and any multi-document deliverable, not just code.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880360"/>
            <a:ext cx="365760" cy="365760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📋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" y="2852928"/>
            <a:ext cx="10186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capture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152144" y="3127248"/>
            <a:ext cx="1018641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a labeled figure or fact during the session, with its source, for later reference.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⚠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" y="3813048"/>
            <a:ext cx="10186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detection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52144" y="4087368"/>
            <a:ext cx="1018641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claim that numerically contradicts a previously recorded one is flagged, not silently overwritten.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365760" cy="36576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📄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52144" y="4773168"/>
            <a:ext cx="10186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Cross-artifact consistency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152144" y="5047488"/>
            <a:ext cx="1018641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fact repeated across several generated documents is checked for agreement, not just internal correctness.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GENERATION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structured files — not write_file pretending to be a document generator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Word, PowerPoint and Excel output as genuine, structured files, with formatting as a first-class input rather than an afterthought.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3639312" cy="2743200"/>
          </a:xfrm>
          <a:prstGeom prst="roundRect">
            <a:avLst>
              <a:gd name="adj" fmla="val 200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224942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📘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22494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761488"/>
            <a:ext cx="327355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bold/italic/underline/strike, numbered &amp; nested lists, real images sized from their own aspect ratio, a genuine auto-updating table of contents, per-cell table formatting, custom accent color.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61104" y="2103120"/>
            <a:ext cx="3639312" cy="2743200"/>
          </a:xfrm>
          <a:prstGeom prst="roundRect">
            <a:avLst>
              <a:gd name="adj" fmla="val 200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5696" y="224942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4425696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📑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19472" y="22494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43984" y="2761488"/>
            <a:ext cx="327355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Native, PowerPoint-editable charts, high-end tables, and two infographic-native layouts. Deliberately no decorative accent-stripe under titles — the single most recognizable AI-deck tell.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65008" y="2103120"/>
            <a:ext cx="3639312" cy="2743200"/>
          </a:xfrm>
          <a:prstGeom prst="roundRect">
            <a:avLst>
              <a:gd name="adj" fmla="val 200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224942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📗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723376" y="22494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47888" y="2761488"/>
            <a:ext cx="327355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recalculating formulas rather than baked-in numbers, per-column currency/percent/date formats, merged cells, autofilter.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5074920"/>
            <a:ext cx="11247120" cy="9144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0749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verified by unzipping the actual generated file and asserting on its real OOXML — bold runs present, numbering XML present, image relationships registered, a real chart part present — not just “the call didn’t throw.”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POWERPOINT, DEEP DIVE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title-and-bullets: four layouts built for what the content actually is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41264" cy="1540764"/>
          </a:xfrm>
          <a:prstGeom prst="roundRect">
            <a:avLst>
              <a:gd name="adj" fmla="val 3561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83794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1837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📊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5568" y="1837944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charts, not screenshots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50008"/>
            <a:ext cx="5175504" cy="7178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Bar, line, pie and doughnut charts render as real PowerPoint chart objects — clickable and re-themeable, with themed axes, gridlines and labels.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63056" y="1691640"/>
            <a:ext cx="5541264" cy="1540764"/>
          </a:xfrm>
          <a:prstGeom prst="roundRect">
            <a:avLst>
              <a:gd name="adj" fmla="val 3561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7648" y="183794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1837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📋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821424" y="1837944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High-end tables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45936" y="2350008"/>
            <a:ext cx="5175504" cy="7178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Per-column width control instead of an automatic even split, plus a highlighted-row option for the one line that matters.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396996"/>
            <a:ext cx="5541264" cy="1540764"/>
          </a:xfrm>
          <a:prstGeom prst="roundRect">
            <a:avLst>
              <a:gd name="adj" fmla="val 3561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" y="3543300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🔢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15568" y="3543300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layout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4055364"/>
            <a:ext cx="5175504" cy="7178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headline numbers as large bordered callout boxes — its own standalone layout for a slide whose entire job is 3–4 big metrics.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63056" y="3396996"/>
            <a:ext cx="5541264" cy="1540764"/>
          </a:xfrm>
          <a:prstGeom prst="roundRect">
            <a:avLst>
              <a:gd name="adj" fmla="val 3561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3543300"/>
            <a:ext cx="384048" cy="384048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5" name="Text 23"/>
          <p:cNvSpPr/>
          <p:nvPr/>
        </p:nvSpPr>
        <p:spPr>
          <a:xfrm>
            <a:off x="6327648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⏱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821424" y="3543300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layout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45936" y="4055364"/>
            <a:ext cx="5175504" cy="7178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steps connected by a line, deliberately without a card background, so a roadmap reads as a connected flow.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5166360"/>
            <a:ext cx="5550408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516636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25780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62356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decorative accent stripes — by design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153912" y="5166360"/>
            <a:ext cx="5550408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53912" y="516636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34" name="Text 32"/>
          <p:cNvSpPr/>
          <p:nvPr/>
        </p:nvSpPr>
        <p:spPr>
          <a:xfrm>
            <a:off x="6336792" y="525780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PASS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336792" y="562356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revision, specifically to stop defaulting to plain bullets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QUALITY GATE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generated document is a claim — this checks it before it’s trusted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is verified by running it. A .docx/.pptx/.xlsx can’t be “run,” so a deterministic checker inspects the file itself — structurally, not by asking a second model whether it looks right.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1808226" y="3044952"/>
            <a:ext cx="8545068" cy="0"/>
          </a:xfrm>
          <a:prstGeom prst="line">
            <a:avLst/>
          </a:prstGeom>
          <a:noFill/>
          <a:ln w="19050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52194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2194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342900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checks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375818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text, mismatched table rows, headers with zero data — plain code, not a model opinion.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00550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0550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05556" y="342900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closed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305556" y="375818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immediately before the file commits to disk; the model retries in the same turn.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248906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48906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153912" y="342900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warnings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153912" y="375818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6+ bullet slide or an unformatted spreadsheet column reports alongside success, not blocking it.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097262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8B7C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97262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7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002268" y="342900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confidence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002268" y="375818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pass is scored genuinely verified — not the old flat 60% “unverified changes.”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074920"/>
            <a:ext cx="11247120" cy="9144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50749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can’t fix.</a:t>
            </a:r>
            <a:pPr indent="0" marL="0">
              <a:buNone/>
            </a:pPr>
            <a:r>
              <a:rPr lang="en-US" sz="12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catches defined structural defects regardless of model. It cannot judge factual accuracy or writing quality — review every deliverable before relying on it.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SCRIPT-BASED GENERATION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documents too large for a single completion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provider caps one completion around 8,000 tokens. Past a size threshold, Wrexlyn has the model write a compact Node.js script instead of one giant JSON call — loops express repetitive structure far more compactly than expanded JSON ever could.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Script-based generation kicks in past: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57200" y="3246120"/>
          <a:ext cx="548640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6263640" y="2880360"/>
            <a:ext cx="365760" cy="365760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2" name="Text 9"/>
          <p:cNvSpPr/>
          <p:nvPr/>
        </p:nvSpPr>
        <p:spPr>
          <a:xfrm>
            <a:off x="626364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📦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775704" y="2852928"/>
            <a:ext cx="4928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module scope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775704" y="3127248"/>
            <a:ext cx="492861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with NODE_PATH pointed at Wrexlyn’s own modules — no source concatenation, correct stack-trace line numbers.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63640" y="3776472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3"/>
          <p:cNvSpPr/>
          <p:nvPr/>
        </p:nvSpPr>
        <p:spPr>
          <a:xfrm>
            <a:off x="6263640" y="3776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🔒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775704" y="3749040"/>
            <a:ext cx="4928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isolation as shell exec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775704" y="4023360"/>
            <a:ext cx="492861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through the identical forked-process isolation; always high-risk, never a standing “always allow.”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63640" y="4672584"/>
            <a:ext cx="365760" cy="36576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7"/>
          <p:cNvSpPr/>
          <p:nvPr/>
        </p:nvSpPr>
        <p:spPr>
          <a:xfrm>
            <a:off x="6263640" y="4672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🧰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775704" y="4645152"/>
            <a:ext cx="4928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kit, not a blank slate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6775704" y="4919472"/>
            <a:ext cx="492861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helper packages port the theme, icon badges and chart presets so a script still looks Wrexlyn-made.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63640" y="5568696"/>
            <a:ext cx="365760" cy="365760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4" name="Text 21"/>
          <p:cNvSpPr/>
          <p:nvPr/>
        </p:nvSpPr>
        <p:spPr>
          <a:xfrm>
            <a:off x="6263640" y="5568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✅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775704" y="5541264"/>
            <a:ext cx="4928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gate, post-render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6775704" y="5815584"/>
            <a:ext cx="492861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rendered file is re-opened and checked exactly like the JSON path — same retry loop, same turn.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PROVIDERS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Interchangeable infrastructure, from zero-key to fully local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an integrated provider, connect any compatible hosted endpoint by URL, or run the model entirely on the same machine — Wrexlyn’s planning, tools, permissions and verification remain the control layer above all of them.</a:t>
            </a:r>
            <a:endParaRPr lang="en-US" sz="14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352044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6675120"/>
              </a:tblGrid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PROVIDER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KEY REQUIRED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NOTES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Kilo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No key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Default. Free, anonymous gateway auto-routing to an available upstream model — capped at 200 req/hour/IP.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Groq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Free key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Fast inference, generous free tier.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OpenRouter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Free key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Access to the rotating “:free”-tier community model lineup.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Google Gemini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Free key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No credit card, via Google AI Studio.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Cerebras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Free key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1M tokens/day free tier.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Mistral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Free key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Free tier, phone verification required.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Custom / Local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Optional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Any OpenAI-compatible endpoint — a paid API, or a local server like Ollama, LM Studio, llama.cpp, vLLM.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PROJECT MEMORY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in a bounded, inspectable way — not by retraining weights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 persists useful project facts, stated preferences, reusable workflows and recurring quality failures. It does not rewrite its own source code or fine-tune a model.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3639312" cy="2103120"/>
          </a:xfrm>
          <a:prstGeom prst="roundRect">
            <a:avLst>
              <a:gd name="adj" fmla="val 2609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293522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📌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29352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stated preferences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447288"/>
            <a:ext cx="3273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memory tool persists a standing instruction — formatting, tone, workflow — project-scoped or global, the moment it’s stated.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61104" y="2788920"/>
            <a:ext cx="3639312" cy="2103120"/>
          </a:xfrm>
          <a:prstGeom prst="roundRect">
            <a:avLst>
              <a:gd name="adj" fmla="val 2609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5696" y="293522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44256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🧩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19472" y="29352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reusable skills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43984" y="3447288"/>
            <a:ext cx="3273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skill-saving tool persists a genuinely reusable multi-step pattern to disk; a matching recall tool fetches its full steps on demand, keeping the prompt small.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65008" y="2788920"/>
            <a:ext cx="3639312" cy="2103120"/>
          </a:xfrm>
          <a:prstGeom prst="roundRect">
            <a:avLst>
              <a:gd name="adj" fmla="val 2609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293522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⚡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723376" y="29352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immediately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47888" y="3447288"/>
            <a:ext cx="3273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 preference or lesson rebuilds the system prompt in the same turn — not only on the next session.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6667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1206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boundary.</a:t>
            </a:r>
            <a:pPr indent="0" marL="0">
              <a:buNone/>
            </a:pPr>
            <a:r>
              <a:rPr lang="en-US" sz="1200" i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This is adaptive project memory, not autonomous model training. Every learned item changes future context, not the underlying model.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SKILLS PLATFORM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expertise as governed product IP, not loose prompts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capabilities are packaged with manifests, instructions, scripts, tests and evals — permissions are declared and previewed before any skill script can execute.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639312" cy="1828800"/>
          </a:xfrm>
          <a:prstGeom prst="roundRect">
            <a:avLst>
              <a:gd name="adj" fmla="val 300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307238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check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307238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584448"/>
            <a:ext cx="327355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Manifests and packages preserve an inspectable history of what changed and when.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61104" y="2926080"/>
            <a:ext cx="3639312" cy="1828800"/>
          </a:xfrm>
          <a:prstGeom prst="roundRect">
            <a:avLst>
              <a:gd name="adj" fmla="val 300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5696" y="307238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4425696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lock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19472" y="307238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43984" y="3584448"/>
            <a:ext cx="327355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execution stays subject to the exact same explicit tool permissions as everything else.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65008" y="2926080"/>
            <a:ext cx="3639312" cy="1828800"/>
          </a:xfrm>
          <a:prstGeom prst="roundRect">
            <a:avLst>
              <a:gd name="adj" fmla="val 300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07238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check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723376" y="307238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47888" y="3584448"/>
            <a:ext cx="327355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can include sample inputs and deterministic checks, not just instructions.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6667"/>
            </a:avLst>
          </a:prstGeom>
          <a:solidFill>
            <a:srgbClr val="111826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1206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use.</a:t>
            </a:r>
            <a:pPr indent="0" marL="0">
              <a:buNone/>
            </a:pPr>
            <a:r>
              <a:rPr lang="en-US" sz="12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skill can contain executable instructions. Inspect its manifest and script preview, verify its source, and apply least privilege before running it.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CONNECTORS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protocol support, with governance, not a bare pipe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and remote Streamable HTTP MCP servers, including OAuth 2.1 flows, per-server permission policy, and anti-injection framing — external content is treated as data, never silently promoted to trusted instructions.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CONNECTOR GALLERY, OR ADD ANY SERVER MANUALLY: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337560"/>
            <a:ext cx="3639312" cy="1357884"/>
          </a:xfrm>
          <a:prstGeom prst="roundRect">
            <a:avLst>
              <a:gd name="adj" fmla="val 404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348386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✉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15568" y="34838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995928"/>
            <a:ext cx="3273552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read, and send email in your Gmail account.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261104" y="3337560"/>
            <a:ext cx="3639312" cy="1357884"/>
          </a:xfrm>
          <a:prstGeom prst="roundRect">
            <a:avLst>
              <a:gd name="adj" fmla="val 404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25696" y="348386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7" name="Text 15"/>
          <p:cNvSpPr/>
          <p:nvPr/>
        </p:nvSpPr>
        <p:spPr>
          <a:xfrm>
            <a:off x="4425696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🗂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19472" y="34838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Drive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43984" y="3995928"/>
            <a:ext cx="3273552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read, and manage files in Google Drive.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65008" y="3337560"/>
            <a:ext cx="3639312" cy="1357884"/>
          </a:xfrm>
          <a:prstGeom prst="roundRect">
            <a:avLst>
              <a:gd name="adj" fmla="val 404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0" y="348386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0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📅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723376" y="34838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Calendar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47888" y="3995928"/>
            <a:ext cx="3273552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manage calendar events.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860036"/>
            <a:ext cx="3639312" cy="1357884"/>
          </a:xfrm>
          <a:prstGeom prst="roundRect">
            <a:avLst>
              <a:gd name="adj" fmla="val 404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5006340"/>
            <a:ext cx="384048" cy="384048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50063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☁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15568" y="500634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OneDrive / SharePoint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5518404"/>
            <a:ext cx="3273552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across OneDrive and SharePoint (tenant-scoped).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261104" y="4860036"/>
            <a:ext cx="3639312" cy="1357884"/>
          </a:xfrm>
          <a:prstGeom prst="roundRect">
            <a:avLst>
              <a:gd name="adj" fmla="val 404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25696" y="500634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2" name="Text 30"/>
          <p:cNvSpPr/>
          <p:nvPr/>
        </p:nvSpPr>
        <p:spPr>
          <a:xfrm>
            <a:off x="4425696" y="50063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📦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919472" y="500634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Dropbox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443984" y="5518404"/>
            <a:ext cx="3273552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read, and manage files in Dropbox.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065008" y="4860036"/>
            <a:ext cx="3639312" cy="1357884"/>
          </a:xfrm>
          <a:prstGeom prst="roundRect">
            <a:avLst>
              <a:gd name="adj" fmla="val 404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0" y="5006340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37" name="Text 35"/>
          <p:cNvSpPr/>
          <p:nvPr/>
        </p:nvSpPr>
        <p:spPr>
          <a:xfrm>
            <a:off x="8229600" y="50063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➕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723376" y="500634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 server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247888" y="5518404"/>
            <a:ext cx="3273552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Filesystem, git, memory, or a custom server — add by command + args, no JSON editing required.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BEST-OF-N ISOLATED AGENTS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the hard task multiple ways, in real isolation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attempt the same difficult task in real Git worktrees. Candidates are independently verified and ranked; the selected result applies cleanly, without mixing intermediate edits into the working tree.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1808226" y="3136392"/>
            <a:ext cx="8545068" cy="0"/>
          </a:xfrm>
          <a:prstGeom prst="line">
            <a:avLst/>
          </a:prstGeom>
          <a:noFill/>
          <a:ln w="19050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52194" y="288036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2194" y="2880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352044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worktrees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384962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attempt gets a genuinely isolated Git worktree, not a shared directory.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00550" y="288036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0550" y="2880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05556" y="352044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parallel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305556" y="384962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attempt runs the full agent loop — tools, permissions, verification — independently.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248906" y="288036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48906" y="2880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153912" y="352044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verify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153912" y="384962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candidate is scored on its own evidence, not compared by vibes.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097262" y="288036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8B7C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97262" y="2880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7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002268" y="352044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and apply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002268" y="384962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best-verified candidate merges cleanly; the rest are discarded without touching your tree.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212080"/>
            <a:ext cx="5550408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521208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30352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WORKTREES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566928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git-worktree isolation, not a simulated sandbox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53912" y="5212080"/>
            <a:ext cx="5550408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53912" y="521208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32" name="Text 30"/>
          <p:cNvSpPr/>
          <p:nvPr/>
        </p:nvSpPr>
        <p:spPr>
          <a:xfrm>
            <a:off x="6336792" y="530352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PACING GATE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336792" y="566928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attempts don’t all burst the keyless provider’s rate cap at once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NISHANT CONVERGENCE PROTOCOL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self-correction gap for weak and free models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model is rarely bad at a first attempt — it’s bad at self-correcting once that attempt fails. NCP formalizes the fix as a named, versioned, unit-tested algorithm, invoked only once a plain repair has already failed once.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1808226" y="2953512"/>
            <a:ext cx="8545068" cy="0"/>
          </a:xfrm>
          <a:prstGeom prst="line">
            <a:avLst/>
          </a:prstGeom>
          <a:noFill/>
          <a:ln w="19050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52194" y="269748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2194" y="26974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333756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Divergent diagnosis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3666744"/>
            <a:ext cx="270205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independently-framed root-cause diagnoses generated in parallel from the same evidence.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00550" y="269748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0550" y="26974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05556" y="333756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adjudication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305556" y="3666744"/>
            <a:ext cx="270205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comparative call judges the two against each other — more reliable than scoring either alone.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248906" y="269748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48906" y="26974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153912" y="333756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Lesson-steered regen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153912" y="3666744"/>
            <a:ext cx="270205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learned lessons foreground as explicit constraints inside both diagnosis prompts.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097262" y="269748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8B7C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97262" y="26974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7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002268" y="333756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score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002268" y="3666744"/>
            <a:ext cx="270205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strict refinement of the outcome score — unchanged on the common, zero-repair path.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617720"/>
            <a:ext cx="11247120" cy="594360"/>
          </a:xfrm>
          <a:prstGeom prst="roundRect">
            <a:avLst>
              <a:gd name="adj" fmla="val 9231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61772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bounded scoring adjustment weighs repair rounds spent, whether the ensemble reached a clear adjudicated winner, and whether a previously-learned failure recurred anyway.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49240"/>
            <a:ext cx="11247120" cy="731520"/>
          </a:xfrm>
          <a:prstGeom prst="roundRect">
            <a:avLst>
              <a:gd name="adj" fmla="val 7500"/>
            </a:avLst>
          </a:prstGeom>
          <a:solidFill>
            <a:srgbClr val="111826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plainly.</a:t>
            </a:r>
            <a:pPr indent="0" marL="0">
              <a:buNone/>
            </a:pPr>
            <a:r>
              <a:rPr lang="en-US" sz="11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NCP does not make a small model reason like a large one. It closes the reliability gap on tasks with an external check — not a claim of raw intelligence uplift.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EXECUTION CONSOLE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Desktop, terminal, and phone — the same session, everywhere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3639312" cy="2834640"/>
          </a:xfrm>
          <a:prstGeom prst="roundRect">
            <a:avLst>
              <a:gd name="adj" fmla="val 1935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88366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🖥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5568" y="18836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Desktop-grade web UI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95728"/>
            <a:ext cx="327355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project selection, plans, live tool activity, permission decisions, evidence and verification in one workspace. Windows installer (Inno Setup) and a Linux launch script; auto-update checks on every launch.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737360"/>
            <a:ext cx="3639312" cy="2834640"/>
          </a:xfrm>
          <a:prstGeom prst="roundRect">
            <a:avLst>
              <a:gd name="adj" fmla="val 1935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5696" y="188366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5" name="Text 13"/>
          <p:cNvSpPr/>
          <p:nvPr/>
        </p:nvSpPr>
        <p:spPr>
          <a:xfrm>
            <a:off x="4425696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⌨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919472" y="18836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REPL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43984" y="2395728"/>
            <a:ext cx="327355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agent, same tools, same y/a/n permission prompts, for anyone who’d rather not leave the shell.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65008" y="1737360"/>
            <a:ext cx="3639312" cy="2834640"/>
          </a:xfrm>
          <a:prstGeom prst="roundRect">
            <a:avLst>
              <a:gd name="adj" fmla="val 1935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0" y="188366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📱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723376" y="18836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Mobile, same LAN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47888" y="2395728"/>
            <a:ext cx="327355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QR code opens the running session on a phone’s browser, installable to the home screen as a lightweight PWA. Every connection — local or LAN — still requires the per-run auth token.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892040"/>
            <a:ext cx="5550408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89204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98348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534924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agent loop and tool surface across web, CLI and mobile — no feature gap between them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53912" y="4892040"/>
            <a:ext cx="5550408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53912" y="489204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29" name="Text 27"/>
          <p:cNvSpPr/>
          <p:nvPr/>
        </p:nvSpPr>
        <p:spPr>
          <a:xfrm>
            <a:off x="6336792" y="498348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127.0.0.1 BY DEFAULT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336792" y="534924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UI is not reachable from the network unless ––lan is explicitly passed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PRIVACY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 you can actually verify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94360" y="1691640"/>
            <a:ext cx="365760" cy="365760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📍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06424" y="1664208"/>
            <a:ext cx="10460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06424" y="1938528"/>
            <a:ext cx="1046073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— code, sessions, generated files, API keys — stays on the machine. Nothing goes anywhere except the model provider you chose, for the messages you sent it.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560320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🔒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" y="2532888"/>
            <a:ext cx="10460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boundary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06424" y="2807208"/>
            <a:ext cx="1046073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tools are confined to the chosen project root; a path resolving outside it is rejected before touching disk.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429000"/>
            <a:ext cx="365760" cy="36576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🗝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06424" y="3401568"/>
            <a:ext cx="10460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storage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06424" y="3675888"/>
            <a:ext cx="1046073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credentials go through the platform-aware secret store (DPAPI / Keychain / Secret Service), with a disclosed plaintext fallback only when none is available.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4297680"/>
            <a:ext cx="365760" cy="365760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4297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6424" y="4270248"/>
            <a:ext cx="10460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execution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106424" y="4544568"/>
            <a:ext cx="1046073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to a separate service and gated by the risk/permission system — not a container or VM boundary, stated plainly.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5166360"/>
            <a:ext cx="365760" cy="365760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↩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06424" y="5138928"/>
            <a:ext cx="10460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06424" y="5413248"/>
            <a:ext cx="1046073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Best-effort checkpoints before every supported mutating action — not a replacement for version control or independent backups.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AND PROOF STANDARD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the system, not showcasing the model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serious coding agent must be evaluated as a complete system. A reproducible run pins the Wrexlyn build, model, endpoint, task set and verification command — and results are reported by model tier, so a frontier model can’t hide a weak harness.</a:t>
            </a:r>
            <a:endParaRPr lang="en-US" sz="14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11247120" cy="3063240"/>
        </p:xfrm>
        <a:graphic>
          <a:graphicData uri="http://schemas.openxmlformats.org/drawingml/2006/table">
            <a:tbl>
              <a:tblPr/>
              <a:tblGrid>
                <a:gridCol w="2468880"/>
                <a:gridCol w="2194560"/>
                <a:gridCol w="6583680"/>
              </a:tblGrid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DIMENSION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PRIMARY METRIC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DECISION IT SUPPORTS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Task completion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Resolved rate, pass@1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Does the complete system produce correct patches?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Verification integrity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Precision of the verified state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Can a reviewer trust the completion label?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Regression control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Previously-passing checks broken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Does verification prevent locally-correct, globally-harmful changes?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Recovery uplift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Success after first failure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Does orchestration add value beyond the base model?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Operational safety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Unsafe actions proposed / blocked / executed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Can autonomy operate inside an acceptable risk envelope?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Economics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Cost and time per verified result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Which deployment produces the best accepted-work economics?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94360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111826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evidence boundary.</a:t>
            </a:r>
            <a:pPr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Wrexlyn does not claim an official third-party benchmark score today — automated tests cover internal mechanisms; external validation is sequenced deliberately, not skipped.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POSITIONING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categories answer the same question differently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map of the actual trade-off, not a claim that other categories are bad at what they optimize for.</a:t>
            </a:r>
            <a:endParaRPr lang="en-US" sz="14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11247120" cy="27432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  <a:gridCol w="51206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CATEGORY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OPTIMIZES FOR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WHAT YOU GIVE UP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Inline autocomplete assistants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Speed of a single suggestion, in-editor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No multi-file planning, no verification loop, no memory across sessions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IDE-embedded agentic assistants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Convenience — one tool, one subscription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Usually a fixed model, usually a subscription regardless of upstream free tiers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Hosted autonomous SaaS agents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Fire-and-forget delegation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Code and prompts leave your machine; verification, if any, runs on infrastructure you can’t inspect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Other local/terminal agents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Also local, also often model-agnostic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Typically no independent critic, no formalized confidence score, no document quality gate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760720"/>
            <a:ext cx="11247120" cy="731520"/>
          </a:xfrm>
          <a:prstGeom prst="roundRect">
            <a:avLst>
              <a:gd name="adj" fmla="val 75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57607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Wrexlyn’s bet:</a:t>
            </a:r>
            <a:pPr indent="0" marL="0">
              <a:buNone/>
            </a:pPr>
            <a:r>
              <a:rPr lang="en-US" sz="12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verified reliability compounds where raw generation speed does not — especially once free or lower-cost models, not always the frontier ones, are doing the generating.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COMPARISON, BY CAPABILITY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Reflects documented category patterns, not named-vendor scoring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47120" cy="4480560"/>
        </p:xfrm>
        <a:graphic>
          <a:graphicData uri="http://schemas.openxmlformats.org/drawingml/2006/table">
            <a:tbl>
              <a:tblPr/>
              <a:tblGrid>
                <a:gridCol w="3246120"/>
                <a:gridCol w="1691640"/>
                <a:gridCol w="1691640"/>
                <a:gridCol w="1691640"/>
                <a:gridCol w="1691640"/>
                <a:gridCol w="1600200"/>
              </a:tblGrid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CAPABILITY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INLINE</a:t>
                      </a:r>
                      <a:endParaRPr lang="en-US" sz="1350" dirty="0"/>
                    </a:p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AUTOCOMPLETE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IDE-EMBEDDED</a:t>
                      </a:r>
                      <a:endParaRPr lang="en-US" sz="1350" dirty="0"/>
                    </a:p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AGENT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HOSTED SAAS</a:t>
                      </a:r>
                      <a:endParaRPr lang="en-US" sz="1350" dirty="0"/>
                    </a:p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AGENT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OTHER LOCAL</a:t>
                      </a:r>
                      <a:endParaRPr lang="en-US" sz="1350" dirty="0"/>
                    </a:p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AGENTS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WREXLYN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Full multi-file agent loop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Editor- and model-agnostic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Runs entirely on your machine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Independent critic step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Structural document quality gate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Formalized numeric confidence score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Per-file checkpoint + one-click rollback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Local model server support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Best-of-N isolated parallel attempts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FA0B8"/>
                          </a:solidFill>
                        </a:rPr>
                        <a:t>Versioned, permission-gated skills platform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COMPARISON HOLDS UP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named mechanisms, and disclosed limits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3639312" cy="4023360"/>
          </a:xfrm>
          <a:prstGeom prst="roundRect">
            <a:avLst>
              <a:gd name="adj" fmla="val 1508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11226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check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5568" y="21122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not claims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24328"/>
            <a:ext cx="327355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Retry/backoff behavior, verification outcomes, checkpoints, evidence handling and document quality controls are all backed by automated tests in the codebase — a different kind of claim than marketing copy alone.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965960"/>
            <a:ext cx="3639312" cy="4023360"/>
          </a:xfrm>
          <a:prstGeom prst="roundRect">
            <a:avLst>
              <a:gd name="adj" fmla="val 1508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5696" y="211226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5" name="Text 13"/>
          <p:cNvSpPr/>
          <p:nvPr/>
        </p:nvSpPr>
        <p:spPr>
          <a:xfrm>
            <a:off x="442569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star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919472" y="21122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Named, versioned mechanisms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43984" y="2624328"/>
            <a:ext cx="327355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reliability runtime,” “the document quality gate,” “the Nishant Convergence Protocol” are specific, citable names for specific code — not a marketing umbrella over whatever the model happened to do that day.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65008" y="1965960"/>
            <a:ext cx="3639312" cy="4023360"/>
          </a:xfrm>
          <a:prstGeom prst="roundRect">
            <a:avLst>
              <a:gd name="adj" fmla="val 1508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0" y="211226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warning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723376" y="21122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Disclosed limits, not just wins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47888" y="2624328"/>
            <a:ext cx="327355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differentiation claim in this deck has a matching honest-scope callout for what it does not do. A tool that discloses its own ceiling is more trustworthy at the claims it does make.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items and adjacent markets, tracked rather than hidden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 ROADMAP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5577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Container-level sandboxed execution for the use cases where host-level trust isn’t acceptable</a:t>
            </a:r>
            <a:endParaRPr lang="en-US" sz="1250" dirty="0"/>
          </a:p>
          <a:p>
            <a:pPr marL="228600" indent="-228600">
              <a:lnSpc>
                <a:spcPct val="12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Force-kill for a running shell command mid-execution, not just a stop on the loop continuing</a:t>
            </a:r>
            <a:endParaRPr lang="en-US" sz="1250" dirty="0"/>
          </a:p>
          <a:p>
            <a:pPr marL="228600" indent="-228600">
              <a:lnSpc>
                <a:spcPct val="12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Prose-quality scoring — the current gate is deliberately structural, not writing-quality-aware yet</a:t>
            </a:r>
            <a:endParaRPr lang="en-US" sz="1250" dirty="0"/>
          </a:p>
          <a:p>
            <a:pPr marL="228600" indent="-228600">
              <a:lnSpc>
                <a:spcPct val="12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Team-shared skill library — single-user, cross-project promotion now ships; multi-user distribution is next</a:t>
            </a:r>
            <a:endParaRPr lang="en-US" sz="1250" dirty="0"/>
          </a:p>
          <a:p>
            <a:pPr marL="228600" indent="-228600">
              <a:lnSpc>
                <a:spcPct val="12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 sequence: private pilot → same-model ablations → SWE-bench Verified, Terminal-Bench 2, BFCL, SWE-Lancer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0" y="17830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EXPANSION SURFACE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2148840"/>
            <a:ext cx="365760" cy="365760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💼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912864" y="2121408"/>
            <a:ext cx="4791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Diligence &amp; analysis packs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912864" y="2395728"/>
            <a:ext cx="4791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+ consistency checking already fits diligence, technical reports, and multi-document deliverables beyond code.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0" y="3108960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🔌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912864" y="3081528"/>
            <a:ext cx="4791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ecosystem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912864" y="3355848"/>
            <a:ext cx="4791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MCP gallery (Gmail, Drive, Calendar, OneDrive, Dropbox) turns a coding agent into a broader orchestration workspace.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0" y="4069080"/>
            <a:ext cx="365760" cy="36576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🏢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912864" y="4041648"/>
            <a:ext cx="4791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/ local-governance buyers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912864" y="4315968"/>
            <a:ext cx="4791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custody is the pitch for customers who cannot send code or prompts to third-party infrastructure.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5029200"/>
            <a:ext cx="365760" cy="365760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5029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🧩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912864" y="5001768"/>
            <a:ext cx="4791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as a distribution surface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912864" y="5276088"/>
            <a:ext cx="4791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versioned, testable skills platform is the seed of a governed capability marketplace, not just a personal shortcut.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05156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111826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515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691640" y="1051560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replaceable. The workspace compounds.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91640" y="2331720"/>
            <a:ext cx="9144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0000"/>
              </a:lnSpc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local process. Any model. Governed tools, verified results, memory that compounds.</a:t>
            </a:r>
            <a:endParaRPr lang="en-US" sz="1500" dirty="0"/>
          </a:p>
          <a:p>
            <a:pPr marL="228600" indent="-228600">
              <a:lnSpc>
                <a:spcPct val="120000"/>
              </a:lnSpc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built-in tools, 7 provider paths, 13 orchestration layers, 6 verification states — all inspectable, all local.</a:t>
            </a:r>
            <a:endParaRPr lang="en-US" sz="1500" dirty="0"/>
          </a:p>
          <a:p>
            <a:pPr marL="228600" indent="-228600">
              <a:lnSpc>
                <a:spcPct val="120000"/>
              </a:lnSpc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differentiation, disclosed limits, and a roadmap tracked in the open.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526280"/>
            <a:ext cx="10515600" cy="1417320"/>
          </a:xfrm>
          <a:prstGeom prst="roundRect">
            <a:avLst>
              <a:gd name="adj" fmla="val 5161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talk.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516636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walkthrough, source review, and full technical deep-dive are available under NDA.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355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Nishant Prabhakar  ·  Proprietary source-available software — see LICENSE and TERMS_OF_SERVICE.md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SELF-IMPROVING SKILL LOOP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that track their own record, and improve only with your sign-off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skill recall ties back to that turn’s real outcome and confidence score. A background judge — a pure heuristic filter, then a model call — proposes a new skill or a revision from it.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3639312" cy="2103120"/>
          </a:xfrm>
          <a:prstGeom prst="roundRect">
            <a:avLst>
              <a:gd name="adj" fmla="val 2609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293522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📊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29352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real outcomes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447288"/>
            <a:ext cx="3273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Usage, success rate and recent-use history accumulate on every skill — the same signal that already computes the turn’s confidence score.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61104" y="2788920"/>
            <a:ext cx="3639312" cy="2103120"/>
          </a:xfrm>
          <a:prstGeom prst="roundRect">
            <a:avLst>
              <a:gd name="adj" fmla="val 2609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5696" y="293522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44256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19472" y="29352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Proposes, never applies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43984" y="3447288"/>
            <a:ext cx="3273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skill or a revision is a pending proposal in the Skills tab — nothing changes what the agent does until it’s explicitly accepted.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65008" y="2788920"/>
            <a:ext cx="3639312" cy="2103120"/>
          </a:xfrm>
          <a:prstGeom prst="roundRect">
            <a:avLst>
              <a:gd name="adj" fmla="val 2609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293522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🌐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723376" y="29352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across projects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47888" y="3447288"/>
            <a:ext cx="3273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Accepting the same skill in 2+ projects proposes promoting it to an account-wide library, ready for a brand-new project’s first turn.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6667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1206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boundary.</a:t>
            </a:r>
            <a:pPr indent="0" marL="0">
              <a:buNone/>
            </a:pPr>
            <a:r>
              <a:rPr lang="en-US" sz="1200" i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This still only produces a proposed skill file for review — never a change to Wrexlyn’s own prompts or source, never applied without your accept.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2026-08-24T10:14:20Z</dcterms:created>
  <dcterms:modified xsi:type="dcterms:W3CDTF">2026-08-24T10:14:20Z</dcterms:modified>
</cp:coreProperties>
</file>