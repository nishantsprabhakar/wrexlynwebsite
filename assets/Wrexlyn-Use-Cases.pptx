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928" y="105156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24028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300" kern="0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0" y="3127248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33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2255368" y="3703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teammate. Seven everyday jobs, done end to end.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912468" y="4526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2171A"/>
          </a:solidFill>
          <a:ln w="12700">
            <a:solidFill>
              <a:srgbClr val="232E2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912468" y="4526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061308" y="4526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2171A"/>
          </a:solidFill>
          <a:ln w="12700">
            <a:solidFill>
              <a:srgbClr val="232E2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061308" y="4526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0148" y="4526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2171A"/>
          </a:solidFill>
          <a:ln w="12700">
            <a:solidFill>
              <a:srgbClr val="232E2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0148" y="4526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358988" y="4526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2171A"/>
          </a:solidFill>
          <a:ln w="12700">
            <a:solidFill>
              <a:srgbClr val="232E2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8988" y="4526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0" y="626364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Nishant Prabhakar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50976" y="2926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899855" y="2926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200" kern="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Nishant Prabhakar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8412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3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DECK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152144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system. Many kinds of work.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8745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 is one AI teammate you give plain-English instructions to. It plans the work, does it inside your own files and tools, checks its own result, and shows you the proof — across four broad kinds of work.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3246120"/>
            <a:ext cx="2514600" cy="3246120"/>
          </a:xfrm>
          <a:prstGeom prst="roundRect">
            <a:avLst>
              <a:gd name="adj" fmla="val 3273"/>
            </a:avLst>
          </a:prstGeom>
          <a:solidFill>
            <a:srgbClr val="12171A"/>
          </a:solidFill>
          <a:ln w="12700">
            <a:solidFill>
              <a:srgbClr val="232E2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440180" y="3566160"/>
            <a:ext cx="731520" cy="731520"/>
          </a:xfrm>
          <a:prstGeom prst="ellipse">
            <a:avLst/>
          </a:prstGeom>
          <a:solidFill>
            <a:srgbClr val="171E22"/>
          </a:solidFill>
          <a:ln w="15875">
            <a:solidFill>
              <a:srgbClr val="33E0A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440180" y="3566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4480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48920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Fix, build, and ship software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319272" y="3246120"/>
            <a:ext cx="2514600" cy="3246120"/>
          </a:xfrm>
          <a:prstGeom prst="roundRect">
            <a:avLst>
              <a:gd name="adj" fmla="val 3273"/>
            </a:avLst>
          </a:prstGeom>
          <a:solidFill>
            <a:srgbClr val="12171A"/>
          </a:solidFill>
          <a:ln w="12700">
            <a:solidFill>
              <a:srgbClr val="232E2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210812" y="3566160"/>
            <a:ext cx="731520" cy="731520"/>
          </a:xfrm>
          <a:prstGeom prst="ellipse">
            <a:avLst/>
          </a:prstGeom>
          <a:solidFill>
            <a:srgbClr val="171E22"/>
          </a:solidFill>
          <a:ln w="15875">
            <a:solidFill>
              <a:srgbClr val="33E0A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210812" y="3566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3456432" y="4480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3502152" y="48920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Word, Excel &amp; PowerPoint files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089904" y="3246120"/>
            <a:ext cx="2514600" cy="3246120"/>
          </a:xfrm>
          <a:prstGeom prst="roundRect">
            <a:avLst>
              <a:gd name="adj" fmla="val 3273"/>
            </a:avLst>
          </a:prstGeom>
          <a:solidFill>
            <a:srgbClr val="12171A"/>
          </a:solidFill>
          <a:ln w="12700">
            <a:solidFill>
              <a:srgbClr val="232E2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981444" y="3566160"/>
            <a:ext cx="731520" cy="731520"/>
          </a:xfrm>
          <a:prstGeom prst="ellipse">
            <a:avLst/>
          </a:prstGeom>
          <a:solidFill>
            <a:srgbClr val="171E22"/>
          </a:solidFill>
          <a:ln w="15875">
            <a:solidFill>
              <a:srgbClr val="33E0A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981444" y="3566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6227064" y="4480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272784" y="48920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backed by real sources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860536" y="3246120"/>
            <a:ext cx="2514600" cy="3246120"/>
          </a:xfrm>
          <a:prstGeom prst="roundRect">
            <a:avLst>
              <a:gd name="adj" fmla="val 3273"/>
            </a:avLst>
          </a:prstGeom>
          <a:solidFill>
            <a:srgbClr val="12171A"/>
          </a:solidFill>
          <a:ln w="12700">
            <a:solidFill>
              <a:srgbClr val="232E2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752076" y="3566160"/>
            <a:ext cx="731520" cy="731520"/>
          </a:xfrm>
          <a:prstGeom prst="ellipse">
            <a:avLst/>
          </a:prstGeom>
          <a:solidFill>
            <a:srgbClr val="171E22"/>
          </a:solidFill>
          <a:ln w="15875">
            <a:solidFill>
              <a:srgbClr val="33E0A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752076" y="3566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🔌</a:t>
            </a:r>
            <a:endParaRPr lang="en-US" sz="2400" dirty="0"/>
          </a:p>
        </p:txBody>
      </p:sp>
      <p:sp>
        <p:nvSpPr>
          <p:cNvPr id="28" name="Text 25"/>
          <p:cNvSpPr txBox="1"/>
          <p:nvPr/>
        </p:nvSpPr>
        <p:spPr>
          <a:xfrm>
            <a:off x="8997696" y="4480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9043416" y="48920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inside your everyday tools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50976" y="2926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899855" y="2926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200" kern="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Nishant Prabhakar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8412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3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 · SOFTWARE ENGINEERING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152144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working code, not just suggestions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10591495" y="777240"/>
            <a:ext cx="1051560" cy="1051560"/>
          </a:xfrm>
          <a:prstGeom prst="ellipse">
            <a:avLst/>
          </a:prstGeom>
          <a:solidFill>
            <a:srgbClr val="171E22"/>
          </a:solidFill>
          <a:ln w="15875">
            <a:solidFill>
              <a:srgbClr val="33E0A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591495" y="7772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💻</a:t>
            </a:r>
            <a:endParaRPr lang="en-US" sz="3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8288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6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“Fix a bug, add a feature, or clean up messy code — and prove it actually works.”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548640" y="2606040"/>
            <a:ext cx="6903720" cy="2880360"/>
          </a:xfrm>
          <a:prstGeom prst="roundRect">
            <a:avLst>
              <a:gd name="adj" fmla="val 2857"/>
            </a:avLst>
          </a:prstGeom>
          <a:solidFill>
            <a:srgbClr val="12171A"/>
          </a:solidFill>
          <a:ln w="12700">
            <a:solidFill>
              <a:srgbClr val="232E2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68680" y="28620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68680" y="3291840"/>
            <a:ext cx="292608" cy="292608"/>
          </a:xfrm>
          <a:prstGeom prst="ellipse">
            <a:avLst/>
          </a:prstGeom>
          <a:solidFill>
            <a:srgbClr val="171E22"/>
          </a:solidFill>
          <a:ln w="12700">
            <a:solidFill>
              <a:srgbClr val="33E0A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3218688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actual codebase first, so changes fit how your project already works.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68680" y="3950208"/>
            <a:ext cx="292608" cy="292608"/>
          </a:xfrm>
          <a:prstGeom prst="ellipse">
            <a:avLst/>
          </a:prstGeom>
          <a:solidFill>
            <a:srgbClr val="171E22"/>
          </a:solidFill>
          <a:ln w="12700">
            <a:solidFill>
              <a:srgbClr val="33E0A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3950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3877056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change directly in your files — no copy-pasting code out of a chat window.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68680" y="4608576"/>
            <a:ext cx="292608" cy="292608"/>
          </a:xfrm>
          <a:prstGeom prst="ellipse">
            <a:avLst/>
          </a:prstGeom>
          <a:solidFill>
            <a:srgbClr val="171E22"/>
          </a:solidFill>
          <a:ln w="12700">
            <a:solidFill>
              <a:srgbClr val="33E0A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8680" y="4608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4535424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your real tests and build before calling the job done, and can undo everything with one click if something's wrong.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726680" y="2606040"/>
            <a:ext cx="3916375" cy="2880360"/>
          </a:xfrm>
          <a:prstGeom prst="roundRect">
            <a:avLst>
              <a:gd name="adj" fmla="val 2857"/>
            </a:avLst>
          </a:prstGeom>
          <a:solidFill>
            <a:srgbClr val="12171A"/>
          </a:solidFill>
          <a:ln w="12700">
            <a:solidFill>
              <a:srgbClr val="232E2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7982712" y="2862072"/>
            <a:ext cx="34043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WORDS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982712" y="3227832"/>
            <a:ext cx="3404311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ask: “Fix the login bug and make sure nothing else breaks.”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back a tested, working patch — with the test results to prove it.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50976" y="2926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899855" y="2926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200" kern="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Nishant Prabhakar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8412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3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 · BUSINESS DOCUMENTS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152144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finished file, not a wall of text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10591495" y="777240"/>
            <a:ext cx="1051560" cy="1051560"/>
          </a:xfrm>
          <a:prstGeom prst="ellipse">
            <a:avLst/>
          </a:prstGeom>
          <a:solidFill>
            <a:srgbClr val="171E22"/>
          </a:solidFill>
          <a:ln w="15875">
            <a:solidFill>
              <a:srgbClr val="33E0A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591495" y="7772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📄</a:t>
            </a:r>
            <a:endParaRPr lang="en-US" sz="3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8288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6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“Turn a request into a real Word report, Excel model, or PowerPoint deck.”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548640" y="2606040"/>
            <a:ext cx="6903720" cy="2880360"/>
          </a:xfrm>
          <a:prstGeom prst="roundRect">
            <a:avLst>
              <a:gd name="adj" fmla="val 2857"/>
            </a:avLst>
          </a:prstGeom>
          <a:solidFill>
            <a:srgbClr val="12171A"/>
          </a:solidFill>
          <a:ln w="12700">
            <a:solidFill>
              <a:srgbClr val="232E2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68680" y="28620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68680" y="3291840"/>
            <a:ext cx="292608" cy="292608"/>
          </a:xfrm>
          <a:prstGeom prst="ellipse">
            <a:avLst/>
          </a:prstGeom>
          <a:solidFill>
            <a:srgbClr val="171E22"/>
          </a:solidFill>
          <a:ln w="12700">
            <a:solidFill>
              <a:srgbClr val="33E0A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3218688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actual formatted documents — headings, tables, a working table of contents — not markdown pasted into a text box.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68680" y="3950208"/>
            <a:ext cx="292608" cy="292608"/>
          </a:xfrm>
          <a:prstGeom prst="ellipse">
            <a:avLst/>
          </a:prstGeom>
          <a:solidFill>
            <a:srgbClr val="171E22"/>
          </a:solidFill>
          <a:ln w="12700">
            <a:solidFill>
              <a:srgbClr val="33E0A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3950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3877056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comes out with live, recalculating formulas, not numbers typed in by hand.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68680" y="4608576"/>
            <a:ext cx="292608" cy="292608"/>
          </a:xfrm>
          <a:prstGeom prst="ellipse">
            <a:avLst/>
          </a:prstGeom>
          <a:solidFill>
            <a:srgbClr val="171E22"/>
          </a:solidFill>
          <a:ln w="12700">
            <a:solidFill>
              <a:srgbClr val="33E0A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8680" y="4608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4535424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slides use real, editable charts and layouts designed for the content, not just a title and five bullet points.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726680" y="2606040"/>
            <a:ext cx="3916375" cy="2880360"/>
          </a:xfrm>
          <a:prstGeom prst="roundRect">
            <a:avLst>
              <a:gd name="adj" fmla="val 2857"/>
            </a:avLst>
          </a:prstGeom>
          <a:solidFill>
            <a:srgbClr val="12171A"/>
          </a:solidFill>
          <a:ln w="12700">
            <a:solidFill>
              <a:srgbClr val="232E2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7982712" y="2862072"/>
            <a:ext cx="34043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WORDS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982712" y="3227832"/>
            <a:ext cx="3404311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ask: “Build a 10-slide investor deck from this research.”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an actual .pptx file, ready to open and present — today.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50976" y="2926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899855" y="2926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200" kern="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Nishant Prabhakar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8412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3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3 · RESEARCH &amp; DILIGENCE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152144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you can actually check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10591495" y="777240"/>
            <a:ext cx="1051560" cy="1051560"/>
          </a:xfrm>
          <a:prstGeom prst="ellipse">
            <a:avLst/>
          </a:prstGeom>
          <a:solidFill>
            <a:srgbClr val="171E22"/>
          </a:solidFill>
          <a:ln w="15875">
            <a:solidFill>
              <a:srgbClr val="33E0A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591495" y="7772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🔍</a:t>
            </a:r>
            <a:endParaRPr lang="en-US" sz="3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8288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6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“Answer a hard question, and show your work so I can trust it.”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548640" y="2606040"/>
            <a:ext cx="6903720" cy="2880360"/>
          </a:xfrm>
          <a:prstGeom prst="roundRect">
            <a:avLst>
              <a:gd name="adj" fmla="val 2857"/>
            </a:avLst>
          </a:prstGeom>
          <a:solidFill>
            <a:srgbClr val="12171A"/>
          </a:solidFill>
          <a:ln w="12700">
            <a:solidFill>
              <a:srgbClr val="232E2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68680" y="28620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68680" y="3291840"/>
            <a:ext cx="292608" cy="292608"/>
          </a:xfrm>
          <a:prstGeom prst="ellipse">
            <a:avLst/>
          </a:prstGeom>
          <a:solidFill>
            <a:srgbClr val="171E22"/>
          </a:solidFill>
          <a:ln w="12700">
            <a:solidFill>
              <a:srgbClr val="33E0A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3218688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facts from your own files and the web, and keeps track of exactly where each one came from.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68680" y="3950208"/>
            <a:ext cx="292608" cy="292608"/>
          </a:xfrm>
          <a:prstGeom prst="ellipse">
            <a:avLst/>
          </a:prstGeom>
          <a:solidFill>
            <a:srgbClr val="171E22"/>
          </a:solidFill>
          <a:ln w="12700">
            <a:solidFill>
              <a:srgbClr val="33E0A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3950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3877056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it when a new figure contradicts something it found earlier, instead of quietly overwriting it.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68680" y="4608576"/>
            <a:ext cx="292608" cy="292608"/>
          </a:xfrm>
          <a:prstGeom prst="ellipse">
            <a:avLst/>
          </a:prstGeom>
          <a:solidFill>
            <a:srgbClr val="171E22"/>
          </a:solidFill>
          <a:ln w="12700">
            <a:solidFill>
              <a:srgbClr val="33E0A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8680" y="4608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4535424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same numbers consistent across every report, memo, or slide it writes about the same topic.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726680" y="2606040"/>
            <a:ext cx="3916375" cy="2880360"/>
          </a:xfrm>
          <a:prstGeom prst="roundRect">
            <a:avLst>
              <a:gd name="adj" fmla="val 2857"/>
            </a:avLst>
          </a:prstGeom>
          <a:solidFill>
            <a:srgbClr val="12171A"/>
          </a:solidFill>
          <a:ln w="12700">
            <a:solidFill>
              <a:srgbClr val="232E2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7982712" y="2862072"/>
            <a:ext cx="34043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WORDS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982712" y="3227832"/>
            <a:ext cx="3404311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ask: “Summarize this company's financials and flag any red flags.”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 sourced write-up — every claim traceable back to evidence.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50976" y="2926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899855" y="2926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200" kern="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Nishant Prabhakar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8412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3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4 · SAFE EXPERIMENTATION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152144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it take real action — without the fear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10591495" y="777240"/>
            <a:ext cx="1051560" cy="1051560"/>
          </a:xfrm>
          <a:prstGeom prst="ellipse">
            <a:avLst/>
          </a:prstGeom>
          <a:solidFill>
            <a:srgbClr val="171E22"/>
          </a:solidFill>
          <a:ln w="15875">
            <a:solidFill>
              <a:srgbClr val="33E0A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591495" y="7772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↩</a:t>
            </a:r>
            <a:endParaRPr lang="en-US" sz="3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8288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6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want it to actually do things, but I need an undo button I can trust.”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548640" y="2606040"/>
            <a:ext cx="6903720" cy="2880360"/>
          </a:xfrm>
          <a:prstGeom prst="roundRect">
            <a:avLst>
              <a:gd name="adj" fmla="val 2857"/>
            </a:avLst>
          </a:prstGeom>
          <a:solidFill>
            <a:srgbClr val="12171A"/>
          </a:solidFill>
          <a:ln w="12700">
            <a:solidFill>
              <a:srgbClr val="232E2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68680" y="28620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68680" y="3291840"/>
            <a:ext cx="292608" cy="292608"/>
          </a:xfrm>
          <a:prstGeom prst="ellipse">
            <a:avLst/>
          </a:prstGeom>
          <a:solidFill>
            <a:srgbClr val="171E22"/>
          </a:solidFill>
          <a:ln w="12700">
            <a:solidFill>
              <a:srgbClr val="33E0A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3218688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is captured exactly as it was, the instant before anything touches it.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68680" y="3950208"/>
            <a:ext cx="292608" cy="292608"/>
          </a:xfrm>
          <a:prstGeom prst="ellipse">
            <a:avLst/>
          </a:prstGeom>
          <a:solidFill>
            <a:srgbClr val="171E22"/>
          </a:solidFill>
          <a:ln w="12700">
            <a:solidFill>
              <a:srgbClr val="33E0A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3950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3877056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restores an entire turn's changes — no manual cleanup, no guessing what changed.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68680" y="4608576"/>
            <a:ext cx="292608" cy="292608"/>
          </a:xfrm>
          <a:prstGeom prst="ellipse">
            <a:avLst/>
          </a:prstGeom>
          <a:solidFill>
            <a:srgbClr val="171E22"/>
          </a:solidFill>
          <a:ln w="12700">
            <a:solidFill>
              <a:srgbClr val="33E0A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8680" y="4608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4535424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risky action always asks first; nothing destructive ever runs silently in the background.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726680" y="2606040"/>
            <a:ext cx="3916375" cy="2880360"/>
          </a:xfrm>
          <a:prstGeom prst="roundRect">
            <a:avLst>
              <a:gd name="adj" fmla="val 2857"/>
            </a:avLst>
          </a:prstGeom>
          <a:solidFill>
            <a:srgbClr val="12171A"/>
          </a:solidFill>
          <a:ln w="12700">
            <a:solidFill>
              <a:srgbClr val="232E2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7982712" y="2862072"/>
            <a:ext cx="34043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WORDS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982712" y="3227832"/>
            <a:ext cx="3404311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try a big refactor. It doesn't work out — one click, and every file is back exactly how it was.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50976" y="2926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899855" y="2926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200" kern="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Nishant Prabhakar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8412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3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5 · AUTOMATION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152144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to work inside your everyday tools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10591495" y="777240"/>
            <a:ext cx="1051560" cy="1051560"/>
          </a:xfrm>
          <a:prstGeom prst="ellipse">
            <a:avLst/>
          </a:prstGeom>
          <a:solidFill>
            <a:srgbClr val="171E22"/>
          </a:solidFill>
          <a:ln w="15875">
            <a:solidFill>
              <a:srgbClr val="33E0A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591495" y="7772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🔌</a:t>
            </a:r>
            <a:endParaRPr lang="en-US" sz="3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8288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6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“Let it read and act inside the tools I already use — with my say-so at every step.”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548640" y="2606040"/>
            <a:ext cx="6903720" cy="2880360"/>
          </a:xfrm>
          <a:prstGeom prst="roundRect">
            <a:avLst>
              <a:gd name="adj" fmla="val 2857"/>
            </a:avLst>
          </a:prstGeom>
          <a:solidFill>
            <a:srgbClr val="12171A"/>
          </a:solidFill>
          <a:ln w="12700">
            <a:solidFill>
              <a:srgbClr val="232E2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68680" y="28620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68680" y="3291840"/>
            <a:ext cx="292608" cy="292608"/>
          </a:xfrm>
          <a:prstGeom prst="ellipse">
            <a:avLst/>
          </a:prstGeom>
          <a:solidFill>
            <a:srgbClr val="171E22"/>
          </a:solidFill>
          <a:ln w="12700">
            <a:solidFill>
              <a:srgbClr val="33E0A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3218688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Gmail, Google Drive, Calendar, OneDrive/SharePoint, Dropbox, and more.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68680" y="3950208"/>
            <a:ext cx="292608" cy="292608"/>
          </a:xfrm>
          <a:prstGeom prst="ellipse">
            <a:avLst/>
          </a:prstGeom>
          <a:solidFill>
            <a:srgbClr val="171E22"/>
          </a:solidFill>
          <a:ln w="12700">
            <a:solidFill>
              <a:srgbClr val="33E0A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3950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3877056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it reads from outside is treated as information, never as a secret instruction to obey.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68680" y="4608576"/>
            <a:ext cx="292608" cy="292608"/>
          </a:xfrm>
          <a:prstGeom prst="ellipse">
            <a:avLst/>
          </a:prstGeom>
          <a:solidFill>
            <a:srgbClr val="171E22"/>
          </a:solidFill>
          <a:ln w="12700">
            <a:solidFill>
              <a:srgbClr val="33E0A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8680" y="4608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4535424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approve what it's allowed to touch — nothing acts on your accounts without permission.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726680" y="2606040"/>
            <a:ext cx="3916375" cy="2880360"/>
          </a:xfrm>
          <a:prstGeom prst="roundRect">
            <a:avLst>
              <a:gd name="adj" fmla="val 2857"/>
            </a:avLst>
          </a:prstGeom>
          <a:solidFill>
            <a:srgbClr val="12171A"/>
          </a:solidFill>
          <a:ln w="12700">
            <a:solidFill>
              <a:srgbClr val="232E2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7982712" y="2862072"/>
            <a:ext cx="34043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WORDS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982712" y="3227832"/>
            <a:ext cx="3404311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ask: “Check tomorrow's meetings and draft a follow-up email for each.”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inside your real calendar and inbox — you review before anything sends.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50976" y="2926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899855" y="2926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200" kern="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Nishant Prabhakar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8412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3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6 · MODEL FREEDOM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152144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AI brain that fits the moment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10591495" y="777240"/>
            <a:ext cx="1051560" cy="1051560"/>
          </a:xfrm>
          <a:prstGeom prst="ellipse">
            <a:avLst/>
          </a:prstGeom>
          <a:solidFill>
            <a:srgbClr val="171E22"/>
          </a:solidFill>
          <a:ln w="15875">
            <a:solidFill>
              <a:srgbClr val="33E0A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591495" y="7772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🧠</a:t>
            </a:r>
            <a:endParaRPr lang="en-US" sz="3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8288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6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don't want to be locked into one AI company — or pay for power I don't need.”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548640" y="2606040"/>
            <a:ext cx="6903720" cy="2880360"/>
          </a:xfrm>
          <a:prstGeom prst="roundRect">
            <a:avLst>
              <a:gd name="adj" fmla="val 2857"/>
            </a:avLst>
          </a:prstGeom>
          <a:solidFill>
            <a:srgbClr val="12171A"/>
          </a:solidFill>
          <a:ln w="12700">
            <a:solidFill>
              <a:srgbClr val="232E2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68680" y="28620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68680" y="3291840"/>
            <a:ext cx="292608" cy="292608"/>
          </a:xfrm>
          <a:prstGeom prst="ellipse">
            <a:avLst/>
          </a:prstGeom>
          <a:solidFill>
            <a:srgbClr val="171E22"/>
          </a:solidFill>
          <a:ln w="12700">
            <a:solidFill>
              <a:srgbClr val="33E0A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3218688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free and paid cloud models from multiple providers, side by side.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68680" y="3950208"/>
            <a:ext cx="292608" cy="292608"/>
          </a:xfrm>
          <a:prstGeom prst="ellipse">
            <a:avLst/>
          </a:prstGeom>
          <a:solidFill>
            <a:srgbClr val="171E22"/>
          </a:solidFill>
          <a:ln w="12700">
            <a:solidFill>
              <a:srgbClr val="33E0A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3950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3877056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run entirely on your own machine with a local model — nothing has to leave your computer.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68680" y="4608576"/>
            <a:ext cx="292608" cy="292608"/>
          </a:xfrm>
          <a:prstGeom prst="ellipse">
            <a:avLst/>
          </a:prstGeom>
          <a:solidFill>
            <a:srgbClr val="171E22"/>
          </a:solidFill>
          <a:ln w="12700">
            <a:solidFill>
              <a:srgbClr val="33E0A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8680" y="4608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4535424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project, same memory, same rules — switch models mid-conversation without losing anything.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726680" y="2606040"/>
            <a:ext cx="3916375" cy="2880360"/>
          </a:xfrm>
          <a:prstGeom prst="roundRect">
            <a:avLst>
              <a:gd name="adj" fmla="val 2857"/>
            </a:avLst>
          </a:prstGeom>
          <a:solidFill>
            <a:srgbClr val="12171A"/>
          </a:solidFill>
          <a:ln w="12700">
            <a:solidFill>
              <a:srgbClr val="232E2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7982712" y="2862072"/>
            <a:ext cx="34043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WORDS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982712" y="3227832"/>
            <a:ext cx="3404311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free model for a quick task, switch to a stronger one for something hard — same conversation, same files.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50976" y="2926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899855" y="2926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200" kern="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Nishant Prabhakar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8412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3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7 · INDUSTRY SOLUTIONS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152144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solutions for your industry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10591495" y="777240"/>
            <a:ext cx="1051560" cy="1051560"/>
          </a:xfrm>
          <a:prstGeom prst="ellipse">
            <a:avLst/>
          </a:prstGeom>
          <a:solidFill>
            <a:srgbClr val="171E22"/>
          </a:solidFill>
          <a:ln w="15875">
            <a:solidFill>
              <a:srgbClr val="33E0A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591495" y="7772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🏢</a:t>
            </a:r>
            <a:endParaRPr lang="en-US" sz="3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8288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6F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don't just want a general AI — I want something that already understands my industry.”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548640" y="2606040"/>
            <a:ext cx="6903720" cy="3429000"/>
          </a:xfrm>
          <a:prstGeom prst="roundRect">
            <a:avLst>
              <a:gd name="adj" fmla="val 2400"/>
            </a:avLst>
          </a:prstGeom>
          <a:solidFill>
            <a:srgbClr val="12171A"/>
          </a:solidFill>
          <a:ln w="12700">
            <a:solidFill>
              <a:srgbClr val="232E2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68680" y="28620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68680" y="3291840"/>
            <a:ext cx="292608" cy="292608"/>
          </a:xfrm>
          <a:prstGeom prst="ellipse">
            <a:avLst/>
          </a:prstGeom>
          <a:solidFill>
            <a:srgbClr val="171E22"/>
          </a:solidFill>
          <a:ln w="12700">
            <a:solidFill>
              <a:srgbClr val="33E0A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3218688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underlying engine also powers ready-made, industry-specific products.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68680" y="3950208"/>
            <a:ext cx="292608" cy="292608"/>
          </a:xfrm>
          <a:prstGeom prst="ellipse">
            <a:avLst/>
          </a:prstGeom>
          <a:solidFill>
            <a:srgbClr val="171E22"/>
          </a:solidFill>
          <a:ln w="12700">
            <a:solidFill>
              <a:srgbClr val="33E0A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3950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3877056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 for Investments is the first: built for private equity teams doing screening, deal evaluation, and document review.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68680" y="4608576"/>
            <a:ext cx="292608" cy="292608"/>
          </a:xfrm>
          <a:prstGeom prst="ellipse">
            <a:avLst/>
          </a:prstGeom>
          <a:solidFill>
            <a:srgbClr val="171E22"/>
          </a:solidFill>
          <a:ln w="12700">
            <a:solidFill>
              <a:srgbClr val="33E0A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8680" y="4608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4535424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produces real IC notes and financial models — not generic chat answers about your deal.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68680" y="5266944"/>
            <a:ext cx="292608" cy="292608"/>
          </a:xfrm>
          <a:prstGeom prst="ellipse">
            <a:avLst/>
          </a:prstGeom>
          <a:solidFill>
            <a:srgbClr val="171E22"/>
          </a:solidFill>
          <a:ln w="12700">
            <a:solidFill>
              <a:srgbClr val="33E0A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8680" y="5266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325880" y="5193792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industry-specific versions are on the way — the same core, tuned for a new domain each time.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726680" y="2606040"/>
            <a:ext cx="3916375" cy="3429000"/>
          </a:xfrm>
          <a:prstGeom prst="roundRect">
            <a:avLst>
              <a:gd name="adj" fmla="val 2400"/>
            </a:avLst>
          </a:prstGeom>
          <a:solidFill>
            <a:srgbClr val="12171A"/>
          </a:solidFill>
          <a:ln w="12700">
            <a:solidFill>
              <a:srgbClr val="232E2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7982712" y="2862072"/>
            <a:ext cx="34043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7982712" y="3227832"/>
            <a:ext cx="340431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 analyst asks for an initial screen on a target company — and gets a structured evaluation with a real, editable financial model attached.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50976" y="2926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899855" y="2926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200" kern="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Nishant Prabhakar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8412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3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152144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this actually for?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12171A"/>
          </a:solidFill>
          <a:ln w="12700">
            <a:solidFill>
              <a:srgbClr val="232E2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2258568"/>
            <a:ext cx="1005840" cy="1005840"/>
          </a:xfrm>
          <a:prstGeom prst="ellipse">
            <a:avLst/>
          </a:prstGeom>
          <a:solidFill>
            <a:srgbClr val="171E22"/>
          </a:solidFill>
          <a:ln w="15875">
            <a:solidFill>
              <a:srgbClr val="6FA3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22585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>
                <a:solidFill>
                  <a:srgbClr val="000000"/>
                </a:solidFill>
              </a:rPr>
              <a:t>👩‍💻</a:t>
            </a:r>
            <a:endParaRPr lang="en-US" sz="3300" dirty="0"/>
          </a:p>
        </p:txBody>
      </p:sp>
      <p:sp>
        <p:nvSpPr>
          <p:cNvPr id="12" name="Text 9"/>
          <p:cNvSpPr txBox="1"/>
          <p:nvPr/>
        </p:nvSpPr>
        <p:spPr>
          <a:xfrm>
            <a:off x="2011680" y="21488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&amp; engineering teams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011680" y="26517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tested changes faster, without babysitting every step.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26480" y="187452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12171A"/>
          </a:solidFill>
          <a:ln w="12700">
            <a:solidFill>
              <a:srgbClr val="232E2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0" y="2258568"/>
            <a:ext cx="1005840" cy="1005840"/>
          </a:xfrm>
          <a:prstGeom prst="ellipse">
            <a:avLst/>
          </a:prstGeom>
          <a:solidFill>
            <a:srgbClr val="171E22"/>
          </a:solidFill>
          <a:ln w="15875">
            <a:solidFill>
              <a:srgbClr val="6FA3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0" y="22585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>
                <a:solidFill>
                  <a:srgbClr val="000000"/>
                </a:solidFill>
              </a:rPr>
              <a:t>📊</a:t>
            </a:r>
            <a:endParaRPr lang="en-US" sz="3300" dirty="0"/>
          </a:p>
        </p:txBody>
      </p:sp>
      <p:sp>
        <p:nvSpPr>
          <p:cNvPr id="17" name="Text 14"/>
          <p:cNvSpPr txBox="1"/>
          <p:nvPr/>
        </p:nvSpPr>
        <p:spPr>
          <a:xfrm>
            <a:off x="7589520" y="21488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&amp; researchers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589520" y="26517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information into sourced, checkable deliverables.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397764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12171A"/>
          </a:solidFill>
          <a:ln w="12700">
            <a:solidFill>
              <a:srgbClr val="232E2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22960" y="4361688"/>
            <a:ext cx="1005840" cy="1005840"/>
          </a:xfrm>
          <a:prstGeom prst="ellipse">
            <a:avLst/>
          </a:prstGeom>
          <a:solidFill>
            <a:srgbClr val="171E22"/>
          </a:solidFill>
          <a:ln w="15875">
            <a:solidFill>
              <a:srgbClr val="6FA3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436168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>
                <a:solidFill>
                  <a:srgbClr val="000000"/>
                </a:solidFill>
              </a:rPr>
              <a:t>🚀</a:t>
            </a:r>
            <a:endParaRPr lang="en-US" sz="3300" dirty="0"/>
          </a:p>
        </p:txBody>
      </p:sp>
      <p:sp>
        <p:nvSpPr>
          <p:cNvPr id="22" name="Text 19"/>
          <p:cNvSpPr txBox="1"/>
          <p:nvPr/>
        </p:nvSpPr>
        <p:spPr>
          <a:xfrm>
            <a:off x="2011680" y="42519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&amp; operators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2011680" y="47548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real code, decks, and reports done without a big team.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126480" y="397764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12171A"/>
          </a:solidFill>
          <a:ln w="12700">
            <a:solidFill>
              <a:srgbClr val="232E2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400800" y="4361688"/>
            <a:ext cx="1005840" cy="1005840"/>
          </a:xfrm>
          <a:prstGeom prst="ellipse">
            <a:avLst/>
          </a:prstGeom>
          <a:solidFill>
            <a:srgbClr val="171E22"/>
          </a:solidFill>
          <a:ln w="15875">
            <a:solidFill>
              <a:srgbClr val="6FA3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0" y="436168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>
                <a:solidFill>
                  <a:srgbClr val="000000"/>
                </a:solidFill>
              </a:rPr>
              <a:t>🔐</a:t>
            </a:r>
            <a:endParaRPr lang="en-US" sz="3300" dirty="0"/>
          </a:p>
        </p:txBody>
      </p:sp>
      <p:sp>
        <p:nvSpPr>
          <p:cNvPr id="27" name="Text 24"/>
          <p:cNvSpPr txBox="1"/>
          <p:nvPr/>
        </p:nvSpPr>
        <p:spPr>
          <a:xfrm>
            <a:off x="7589520" y="42519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Security-conscious teams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7589520" y="47548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code, data, and models under your own control.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50976" y="2926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WREXLYN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899855" y="2926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200" kern="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Nishant Prabhakar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8412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3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152144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 case, in one place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187452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18745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4800600" y="1874520"/>
            <a:ext cx="6659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Fix, build, and ship tested code changes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2441448"/>
            <a:ext cx="11094415" cy="566928"/>
          </a:xfrm>
          <a:prstGeom prst="rect">
            <a:avLst/>
          </a:prstGeom>
          <a:solidFill>
            <a:srgbClr val="12171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31520" y="244144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244144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documents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4800600" y="2441448"/>
            <a:ext cx="6659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Word, Excel &amp; PowerPoint files, not text dumps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300837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300837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diligence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4800600" y="3008376"/>
            <a:ext cx="6659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answers you can actually verify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3575304"/>
            <a:ext cx="11094415" cy="566928"/>
          </a:xfrm>
          <a:prstGeom prst="rect">
            <a:avLst/>
          </a:prstGeom>
          <a:solidFill>
            <a:srgbClr val="12171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31520" y="357530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↩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371600" y="357530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experimentation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4800600" y="3575304"/>
            <a:ext cx="6659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reversible, one click to undo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731520" y="414223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371600" y="414223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4800600" y="4142232"/>
            <a:ext cx="6659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inside Gmail, Drive, Calendar &amp; more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48640" y="4709160"/>
            <a:ext cx="11094415" cy="566928"/>
          </a:xfrm>
          <a:prstGeom prst="rect">
            <a:avLst/>
          </a:prstGeom>
          <a:solidFill>
            <a:srgbClr val="12171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31520" y="470916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1371600" y="47091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freedom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4800600" y="4709160"/>
            <a:ext cx="6659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cloud model, or fully local — your choice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731520" y="527608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1371600" y="527608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solutions</a:t>
            </a:r>
            <a:endParaRPr lang="en-US" sz="1350" dirty="0"/>
          </a:p>
        </p:txBody>
      </p:sp>
      <p:sp>
        <p:nvSpPr>
          <p:cNvPr id="32" name="Text 29"/>
          <p:cNvSpPr txBox="1"/>
          <p:nvPr/>
        </p:nvSpPr>
        <p:spPr>
          <a:xfrm>
            <a:off x="4800600" y="5276088"/>
            <a:ext cx="6659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products like Wrexlyn for Investments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8648" y="1737360"/>
            <a:ext cx="914400" cy="914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523848" y="283464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teammate.</a:t>
            </a:r>
            <a:endParaRPr lang="en-US" sz="3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4F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kind of work.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8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work on your own project.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815688" y="484632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33E0A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815688" y="4846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demo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8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Nishant Prabhakar · Wrexlyn is proprietary software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2026-08-26T05:47:43Z</dcterms:created>
  <dcterms:modified xsi:type="dcterms:W3CDTF">2026-08-26T05:47:43Z</dcterms:modified>
</cp:coreProperties>
</file>